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sldIdLst>
    <p:sldId id="256" r:id="rId5"/>
    <p:sldId id="257" r:id="rId6"/>
    <p:sldId id="258" r:id="rId7"/>
    <p:sldId id="259" r:id="rId8"/>
    <p:sldId id="290" r:id="rId9"/>
    <p:sldId id="291" r:id="rId10"/>
    <p:sldId id="293" r:id="rId11"/>
    <p:sldId id="294" r:id="rId12"/>
    <p:sldId id="292" r:id="rId13"/>
    <p:sldId id="288" r:id="rId14"/>
    <p:sldId id="289" r:id="rId15"/>
    <p:sldId id="295" r:id="rId16"/>
    <p:sldId id="298" r:id="rId17"/>
    <p:sldId id="299" r:id="rId18"/>
    <p:sldId id="296" r:id="rId19"/>
    <p:sldId id="297" r:id="rId20"/>
    <p:sldId id="300" r:id="rId21"/>
    <p:sldId id="302" r:id="rId22"/>
    <p:sldId id="301" r:id="rId23"/>
    <p:sldId id="303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  <p:sldId id="312" r:id="rId33"/>
    <p:sldId id="314" r:id="rId34"/>
    <p:sldId id="313" r:id="rId35"/>
    <p:sldId id="315" r:id="rId36"/>
    <p:sldId id="316" r:id="rId37"/>
    <p:sldId id="276" r:id="rId38"/>
  </p:sldIdLst>
  <p:sldSz cx="12193588" cy="6858000"/>
  <p:notesSz cx="7559675" cy="106918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7" autoAdjust="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outlineViewPr>
    <p:cViewPr>
      <p:scale>
        <a:sx n="33" d="100"/>
        <a:sy n="33" d="100"/>
      </p:scale>
      <p:origin x="0" y="-2179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customXml" Target="../customXml/item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customXml" Target="../customXml/item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3" name="PlaceHolder 6"/>
          <p:cNvSpPr>
            <a:spLocks noGrp="1"/>
          </p:cNvSpPr>
          <p:nvPr>
            <p:ph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4" name="PlaceHolder 7"/>
          <p:cNvSpPr>
            <a:spLocks noGrp="1"/>
          </p:cNvSpPr>
          <p:nvPr>
            <p:ph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2" name="PlaceHolder 6"/>
          <p:cNvSpPr>
            <a:spLocks noGrp="1"/>
          </p:cNvSpPr>
          <p:nvPr>
            <p:ph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3" name="PlaceHolder 7"/>
          <p:cNvSpPr>
            <a:spLocks noGrp="1"/>
          </p:cNvSpPr>
          <p:nvPr>
            <p:ph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6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18" Type="http://schemas.openxmlformats.org/officeDocument/2006/relationships/image" Target="../media/image10.png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image" Target="../media/image9.png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8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6.xml"/><Relationship Id="rId19" Type="http://schemas.openxmlformats.org/officeDocument/2006/relationships/image" Target="../media/image11.png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/>
          <p:nvPr/>
        </p:nvSpPr>
        <p:spPr>
          <a:xfrm>
            <a:off x="0" y="0"/>
            <a:ext cx="12190680" cy="6855480"/>
          </a:xfrm>
          <a:prstGeom prst="rect">
            <a:avLst/>
          </a:prstGeom>
          <a:solidFill>
            <a:srgbClr val="2C22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7" name="Image 9"/>
          <p:cNvPicPr/>
          <p:nvPr/>
        </p:nvPicPr>
        <p:blipFill>
          <a:blip r:embed="rId14"/>
          <a:stretch/>
        </p:blipFill>
        <p:spPr>
          <a:xfrm>
            <a:off x="2116080" y="1392480"/>
            <a:ext cx="3854880" cy="4745880"/>
          </a:xfrm>
          <a:prstGeom prst="rect">
            <a:avLst/>
          </a:prstGeom>
          <a:ln w="0">
            <a:noFill/>
          </a:ln>
        </p:spPr>
      </p:pic>
      <p:pic>
        <p:nvPicPr>
          <p:cNvPr id="2" name="Image 3"/>
          <p:cNvPicPr/>
          <p:nvPr/>
        </p:nvPicPr>
        <p:blipFill>
          <a:blip r:embed="rId15"/>
          <a:stretch/>
        </p:blipFill>
        <p:spPr>
          <a:xfrm>
            <a:off x="6219000" y="1989000"/>
            <a:ext cx="5574960" cy="2877840"/>
          </a:xfrm>
          <a:prstGeom prst="rect">
            <a:avLst/>
          </a:prstGeom>
          <a:ln w="0">
            <a:noFill/>
          </a:ln>
        </p:spPr>
      </p:pic>
      <p:pic>
        <p:nvPicPr>
          <p:cNvPr id="3" name="Image 5" descr="Une image contenant personne, gens&#10;&#10;Description générée automatiquement"/>
          <p:cNvPicPr/>
          <p:nvPr/>
        </p:nvPicPr>
        <p:blipFill>
          <a:blip r:embed="rId16"/>
          <a:stretch/>
        </p:blipFill>
        <p:spPr>
          <a:xfrm>
            <a:off x="1003320" y="538560"/>
            <a:ext cx="4133880" cy="48754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Image 11"/>
          <p:cNvPicPr/>
          <p:nvPr/>
        </p:nvPicPr>
        <p:blipFill>
          <a:blip r:embed="rId14"/>
          <a:stretch/>
        </p:blipFill>
        <p:spPr>
          <a:xfrm>
            <a:off x="2115360" y="1392480"/>
            <a:ext cx="3855600" cy="4746600"/>
          </a:xfrm>
          <a:prstGeom prst="rect">
            <a:avLst/>
          </a:prstGeom>
          <a:ln w="0">
            <a:noFill/>
          </a:ln>
        </p:spPr>
      </p:pic>
      <p:pic>
        <p:nvPicPr>
          <p:cNvPr id="43" name="Image 3" descr="Une image contenant personne, gens&#10;&#10;Description générée automatiquement"/>
          <p:cNvPicPr/>
          <p:nvPr/>
        </p:nvPicPr>
        <p:blipFill>
          <a:blip r:embed="rId15"/>
          <a:stretch/>
        </p:blipFill>
        <p:spPr>
          <a:xfrm>
            <a:off x="1003320" y="538560"/>
            <a:ext cx="4197240" cy="4950000"/>
          </a:xfrm>
          <a:prstGeom prst="rect">
            <a:avLst/>
          </a:prstGeom>
          <a:ln w="0">
            <a:noFill/>
          </a:ln>
        </p:spPr>
      </p:pic>
      <p:pic>
        <p:nvPicPr>
          <p:cNvPr id="44" name="Image 6"/>
          <p:cNvPicPr/>
          <p:nvPr/>
        </p:nvPicPr>
        <p:blipFill>
          <a:blip r:embed="rId16"/>
          <a:stretch/>
        </p:blipFill>
        <p:spPr>
          <a:xfrm>
            <a:off x="10185120" y="0"/>
            <a:ext cx="2004840" cy="1034280"/>
          </a:xfrm>
          <a:prstGeom prst="rect">
            <a:avLst/>
          </a:prstGeom>
          <a:ln w="0">
            <a:noFill/>
          </a:ln>
        </p:spPr>
      </p:pic>
      <p:sp>
        <p:nvSpPr>
          <p:cNvPr id="45" name="Rectangle 10"/>
          <p:cNvSpPr/>
          <p:nvPr/>
        </p:nvSpPr>
        <p:spPr>
          <a:xfrm>
            <a:off x="6756120" y="2923200"/>
            <a:ext cx="1645200" cy="87840"/>
          </a:xfrm>
          <a:prstGeom prst="rect">
            <a:avLst/>
          </a:prstGeom>
          <a:solidFill>
            <a:srgbClr val="2C22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5"/>
          <p:cNvSpPr/>
          <p:nvPr/>
        </p:nvSpPr>
        <p:spPr>
          <a:xfrm>
            <a:off x="0" y="0"/>
            <a:ext cx="2912400" cy="6855480"/>
          </a:xfrm>
          <a:prstGeom prst="rect">
            <a:avLst/>
          </a:prstGeom>
          <a:solidFill>
            <a:srgbClr val="FF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85" name="Image 9"/>
          <p:cNvPicPr/>
          <p:nvPr/>
        </p:nvPicPr>
        <p:blipFill>
          <a:blip r:embed="rId14"/>
          <a:stretch/>
        </p:blipFill>
        <p:spPr>
          <a:xfrm>
            <a:off x="10185120" y="0"/>
            <a:ext cx="2004840" cy="1034280"/>
          </a:xfrm>
          <a:prstGeom prst="rect">
            <a:avLst/>
          </a:prstGeom>
          <a:ln w="0">
            <a:noFill/>
          </a:ln>
        </p:spPr>
      </p:pic>
      <p:pic>
        <p:nvPicPr>
          <p:cNvPr id="86" name="Image 6"/>
          <p:cNvPicPr/>
          <p:nvPr/>
        </p:nvPicPr>
        <p:blipFill>
          <a:blip r:embed="rId15"/>
          <a:stretch/>
        </p:blipFill>
        <p:spPr>
          <a:xfrm>
            <a:off x="281160" y="589320"/>
            <a:ext cx="537480" cy="662400"/>
          </a:xfrm>
          <a:prstGeom prst="rect">
            <a:avLst/>
          </a:prstGeom>
          <a:ln w="0">
            <a:noFill/>
          </a:ln>
        </p:spPr>
      </p:pic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0680" cy="6855480"/>
          </a:xfrm>
          <a:prstGeom prst="rect">
            <a:avLst/>
          </a:prstGeom>
          <a:solidFill>
            <a:srgbClr val="2C22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26" name="Image 7" descr="Une image contenant personne, homme, extérieur, chapeau&#10;&#10;Description générée automatiquement"/>
          <p:cNvPicPr/>
          <p:nvPr/>
        </p:nvPicPr>
        <p:blipFill>
          <a:blip r:embed="rId14"/>
          <a:stretch/>
        </p:blipFill>
        <p:spPr>
          <a:xfrm>
            <a:off x="8909640" y="2824920"/>
            <a:ext cx="3286440" cy="4032000"/>
          </a:xfrm>
          <a:prstGeom prst="rect">
            <a:avLst/>
          </a:prstGeom>
          <a:ln w="0">
            <a:noFill/>
          </a:ln>
        </p:spPr>
      </p:pic>
      <p:pic>
        <p:nvPicPr>
          <p:cNvPr id="127" name="Image 4"/>
          <p:cNvPicPr/>
          <p:nvPr/>
        </p:nvPicPr>
        <p:blipFill>
          <a:blip r:embed="rId15"/>
          <a:stretch/>
        </p:blipFill>
        <p:spPr>
          <a:xfrm>
            <a:off x="10165680" y="-1440"/>
            <a:ext cx="2007360" cy="1035360"/>
          </a:xfrm>
          <a:prstGeom prst="rect">
            <a:avLst/>
          </a:prstGeom>
          <a:ln w="0">
            <a:noFill/>
          </a:ln>
        </p:spPr>
      </p:pic>
      <p:pic>
        <p:nvPicPr>
          <p:cNvPr id="128" name="Image 8"/>
          <p:cNvPicPr/>
          <p:nvPr/>
        </p:nvPicPr>
        <p:blipFill>
          <a:blip r:embed="rId16"/>
          <a:stretch/>
        </p:blipFill>
        <p:spPr>
          <a:xfrm>
            <a:off x="8533440" y="4399560"/>
            <a:ext cx="752760" cy="927360"/>
          </a:xfrm>
          <a:prstGeom prst="rect">
            <a:avLst/>
          </a:prstGeom>
          <a:ln w="0">
            <a:noFill/>
          </a:ln>
        </p:spPr>
      </p:pic>
      <p:pic>
        <p:nvPicPr>
          <p:cNvPr id="129" name="Image 9"/>
          <p:cNvPicPr/>
          <p:nvPr/>
        </p:nvPicPr>
        <p:blipFill>
          <a:blip r:embed="rId17"/>
          <a:stretch/>
        </p:blipFill>
        <p:spPr>
          <a:xfrm rot="16200000">
            <a:off x="9040320" y="5949000"/>
            <a:ext cx="394920" cy="486720"/>
          </a:xfrm>
          <a:prstGeom prst="rect">
            <a:avLst/>
          </a:prstGeom>
          <a:ln w="0">
            <a:noFill/>
          </a:ln>
        </p:spPr>
      </p:pic>
      <p:pic>
        <p:nvPicPr>
          <p:cNvPr id="130" name="Image 10" descr="Une image contenant personne, intérieur, rouge&#10;&#10;Description générée automatiquement"/>
          <p:cNvPicPr/>
          <p:nvPr/>
        </p:nvPicPr>
        <p:blipFill>
          <a:blip r:embed="rId18"/>
          <a:stretch/>
        </p:blipFill>
        <p:spPr>
          <a:xfrm>
            <a:off x="-10800" y="0"/>
            <a:ext cx="3294000" cy="4055040"/>
          </a:xfrm>
          <a:prstGeom prst="rect">
            <a:avLst/>
          </a:prstGeom>
          <a:ln w="0">
            <a:noFill/>
          </a:ln>
        </p:spPr>
      </p:pic>
      <p:pic>
        <p:nvPicPr>
          <p:cNvPr id="131" name="Image 11"/>
          <p:cNvPicPr/>
          <p:nvPr/>
        </p:nvPicPr>
        <p:blipFill>
          <a:blip r:embed="rId19"/>
          <a:stretch/>
        </p:blipFill>
        <p:spPr>
          <a:xfrm>
            <a:off x="3114000" y="1014120"/>
            <a:ext cx="364680" cy="449640"/>
          </a:xfrm>
          <a:prstGeom prst="rect">
            <a:avLst/>
          </a:prstGeom>
          <a:ln w="0">
            <a:noFill/>
          </a:ln>
        </p:spPr>
      </p:pic>
      <p:pic>
        <p:nvPicPr>
          <p:cNvPr id="132" name="Image 12"/>
          <p:cNvPicPr/>
          <p:nvPr/>
        </p:nvPicPr>
        <p:blipFill>
          <a:blip r:embed="rId20"/>
          <a:stretch/>
        </p:blipFill>
        <p:spPr>
          <a:xfrm rot="5400000">
            <a:off x="1445040" y="3077640"/>
            <a:ext cx="564480" cy="695520"/>
          </a:xfrm>
          <a:prstGeom prst="rect">
            <a:avLst/>
          </a:prstGeom>
          <a:ln w="0">
            <a:noFill/>
          </a:ln>
        </p:spPr>
      </p:pic>
      <p:sp>
        <p:nvSpPr>
          <p:cNvPr id="133" name="Rectangle : coins arrondis 2"/>
          <p:cNvSpPr/>
          <p:nvPr/>
        </p:nvSpPr>
        <p:spPr>
          <a:xfrm>
            <a:off x="3959640" y="2765880"/>
            <a:ext cx="4273200" cy="1319040"/>
          </a:xfrm>
          <a:prstGeom prst="roundRect">
            <a:avLst>
              <a:gd name="adj" fmla="val 974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408240" algn="l"/>
              </a:tabLst>
            </a:pPr>
            <a:r>
              <a:rPr lang="fr-FR" sz="11500" b="1" strike="noStrike" spc="-1">
                <a:solidFill>
                  <a:srgbClr val="2C2274"/>
                </a:solidFill>
                <a:latin typeface="Arial"/>
                <a:ea typeface="DejaVu Sans"/>
              </a:rPr>
              <a:t>Merci</a:t>
            </a:r>
            <a:endParaRPr lang="en-GB" sz="11500" b="0" strike="noStrike" spc="-1">
              <a:latin typeface="Arial"/>
            </a:endParaRPr>
          </a:p>
        </p:txBody>
      </p:sp>
      <p:sp>
        <p:nvSpPr>
          <p:cNvPr id="134" name="Rectangle : coins arrondis 15"/>
          <p:cNvSpPr/>
          <p:nvPr/>
        </p:nvSpPr>
        <p:spPr>
          <a:xfrm>
            <a:off x="4452120" y="5992560"/>
            <a:ext cx="3286440" cy="527400"/>
          </a:xfrm>
          <a:prstGeom prst="roundRect">
            <a:avLst>
              <a:gd name="adj" fmla="val 974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408240" algn="l"/>
              </a:tabLst>
            </a:pPr>
            <a:r>
              <a:rPr lang="fr-FR" sz="2800" b="1" strike="noStrike" spc="-1">
                <a:solidFill>
                  <a:srgbClr val="2C2274"/>
                </a:solidFill>
                <a:latin typeface="Arial"/>
                <a:ea typeface="DejaVu Sans"/>
              </a:rPr>
              <a:t>www.arche-mc2.fr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135" name="ZoneTexte 16"/>
          <p:cNvSpPr/>
          <p:nvPr/>
        </p:nvSpPr>
        <p:spPr>
          <a:xfrm>
            <a:off x="4105440" y="5233320"/>
            <a:ext cx="397980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tabLst>
                <a:tab pos="408240" algn="l"/>
              </a:tabLst>
            </a:pPr>
            <a:r>
              <a:rPr lang="fr-FR" sz="1800" b="1" strike="noStrike" spc="-1">
                <a:solidFill>
                  <a:srgbClr val="FFFFFF"/>
                </a:solidFill>
                <a:latin typeface="Arial"/>
                <a:ea typeface="DejaVu Sans"/>
              </a:rPr>
              <a:t>Pour en savoir plus, </a:t>
            </a:r>
            <a:endParaRPr lang="en-GB" sz="1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408240" algn="l"/>
              </a:tabLst>
            </a:pPr>
            <a:r>
              <a:rPr lang="fr-FR" sz="1800" b="1" strike="noStrike" spc="-1">
                <a:solidFill>
                  <a:srgbClr val="FFFFFF"/>
                </a:solidFill>
                <a:latin typeface="Arial"/>
                <a:ea typeface="DejaVu Sans"/>
              </a:rPr>
              <a:t>rendez-vous sur : 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GB" sz="4400" b="0" strike="noStrike" spc="-1">
                <a:latin typeface="Arial"/>
              </a:rPr>
              <a:t>Cliquez pour éditer le format du texte-titre</a:t>
            </a: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Cliquez pour éditer le format du plan de texte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niveau de plan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Troisième niveau de plan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Quatrième niveau de plan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Cinquième niveau de plan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Sixième niveau de plan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Septième niveau de plan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0D6EE7D8-7113-4136-936D-71662F54C603}" type="slidenum">
              <a:rPr lang="fr-FR" sz="2400" b="1" strike="noStrike" spc="-1">
                <a:solidFill>
                  <a:srgbClr val="2C2274"/>
                </a:solidFill>
                <a:latin typeface="Arial"/>
              </a:rPr>
              <a:t>2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6661080" y="3059640"/>
            <a:ext cx="5290920" cy="1667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2800" b="1" strike="noStrike" spc="-1" noProof="0">
                <a:solidFill>
                  <a:srgbClr val="2C2274"/>
                </a:solidFill>
                <a:latin typeface="Arial"/>
              </a:rPr>
              <a:t>Bonnes pratiques</a:t>
            </a:r>
            <a:endParaRPr lang="fr-FR" sz="2800" b="0" strike="noStrike" spc="-1" noProof="0" dirty="0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/>
          </p:nvPr>
        </p:nvSpPr>
        <p:spPr>
          <a:xfrm>
            <a:off x="6334812" y="2011680"/>
            <a:ext cx="5112468" cy="864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6000" b="1" strike="noStrike" spc="-1" noProof="0">
                <a:solidFill>
                  <a:srgbClr val="2C2274"/>
                </a:solidFill>
                <a:latin typeface="Arial"/>
              </a:rPr>
              <a:t>Scripts Bash</a:t>
            </a:r>
            <a:endParaRPr lang="fr-FR" sz="6000" b="0" strike="noStrike" spc="-1" noProof="0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/>
          </p:nvPr>
        </p:nvSpPr>
        <p:spPr>
          <a:xfrm>
            <a:off x="3455999" y="1296000"/>
            <a:ext cx="6027365" cy="864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fr-FR" sz="6000" b="1" strike="noStrike" spc="-1" noProof="0">
                <a:solidFill>
                  <a:srgbClr val="2C2274"/>
                </a:solidFill>
                <a:latin typeface="Arial"/>
              </a:rPr>
              <a:t>Scripts bash</a:t>
            </a:r>
            <a:endParaRPr lang="fr-FR" sz="6000" b="0" strike="noStrike" spc="-1" noProof="0" dirty="0">
              <a:latin typeface="Arial"/>
            </a:endParaRPr>
          </a:p>
        </p:txBody>
      </p:sp>
      <p:sp>
        <p:nvSpPr>
          <p:cNvPr id="178" name="Rectangle 177"/>
          <p:cNvSpPr/>
          <p:nvPr/>
        </p:nvSpPr>
        <p:spPr>
          <a:xfrm>
            <a:off x="4329000" y="2552400"/>
            <a:ext cx="7190640" cy="320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b="0" strike="noStrike" spc="-1">
                <a:latin typeface="Arial"/>
              </a:rPr>
              <a:t>Bonnes pratiques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Variabiliser ses scripts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b="0" strike="noStrike" spc="-1">
                <a:latin typeface="Arial"/>
              </a:rPr>
              <a:t>Configuration déportée et surcharge de variable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Créer des fonctions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b="0" strike="noStrike" spc="-1">
                <a:latin typeface="Arial"/>
              </a:rPr>
              <a:t>Effectuer des tests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Scripts intéractif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b="0" strike="noStrike" spc="-1">
                <a:latin typeface="Arial"/>
              </a:rPr>
              <a:t>Gérer la verbosité</a:t>
            </a:r>
            <a:endParaRPr lang="en-GB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4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Bonnes pratiques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>
                <a:latin typeface="Arial"/>
              </a:rPr>
              <a:t>Bonnes pratiques</a:t>
            </a:r>
            <a:endParaRPr lang="en-GB" sz="1200" b="1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Configuration &amp; surcharge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44000" y="2592000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Commenter son code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Utiliser un # pour ajouter un commentaire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Important pour la relecture et la compréhension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endParaRPr lang="en-GB" sz="180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Choix du shebang et des flags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le shebang détermine quel interpréteur va exécuter le script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on peut définir des options d'exécution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les flags permettent de modifier le comportement de l'interpréteur</a:t>
            </a:r>
            <a:endParaRPr lang="en-GB" sz="180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5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Bonnes pratiques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>
                <a:latin typeface="Arial"/>
              </a:rPr>
              <a:t>Bonnes pratiques</a:t>
            </a:r>
            <a:endParaRPr lang="en-GB" sz="1200" b="1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Configuration &amp; surcharge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44000" y="2592000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/>
              <a:t>#!/bin/bash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/>
              <a:t>#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/>
              <a:t># Un script qui fait des trucs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/>
              <a:t>#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GB" sz="1200"/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/>
              <a:t>set -o errexit   # abort on nonzero exitstatus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/>
              <a:t>set -o nounset   # abort on unbound variable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/>
              <a:t>set -o pipefail  # don't hide errors within pipes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GB" sz="1200"/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/>
              <a:t># le truc le plus important du script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/>
              <a:t>echo "1.2.3" &gt; ~/application.conf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GB" sz="1200"/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/>
              <a:t>echo "sortie 1"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/>
              <a:t>ls /rezt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/>
              <a:t>echo "sortie 2"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GB" sz="1200"/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/>
              <a:t># ici c'est la fin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3691184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6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Bonnes pratiques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>
                <a:latin typeface="Arial"/>
              </a:rPr>
              <a:t>Bonnes pratiques</a:t>
            </a:r>
            <a:endParaRPr lang="en-GB" sz="1200" b="1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Configuration &amp; surcharge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44000" y="2158200"/>
            <a:ext cx="7774920" cy="43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Respecter l'indentation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Utiliser un double-espace plutôt qu'une tabulation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Effectuer autant de décallage que de boucles inbriquées</a:t>
            </a:r>
            <a:endParaRPr lang="en-GB" sz="1800" strike="noStrike" spc="-1" dirty="0"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GB" sz="120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#!/bin/bash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myvar=5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while true; do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  echo $(date)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  sleep 1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  if [[ $myvar -eq 3 ]]; then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    echo "myvar = 3"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  else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    echo "myvar != 3"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    if ( ls /tmp/ &gt; /dev/null ); then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      echo "le dossier tmp existe"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    else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      echo "le dossier tmp n'existe pas"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    fi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  fi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807922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7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Bonnes pratiques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>
                <a:latin typeface="Arial"/>
              </a:rPr>
              <a:t>Bonnes pratiques</a:t>
            </a:r>
            <a:endParaRPr lang="en-GB" sz="1200" b="1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Configuration &amp; surcharge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44000" y="2562503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Gérer la sortie standard et sortie d'erreur de vos commandes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z="180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z="180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Gérer les codes de retour de vos scripts</a:t>
            </a:r>
            <a:endParaRPr lang="en-GB" sz="1800" strike="noStrike" spc="-1" dirty="0"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FAC0E9A-6BB2-9B6C-DDB6-8E656370AA44}"/>
              </a:ext>
            </a:extLst>
          </p:cNvPr>
          <p:cNvSpPr txBox="1"/>
          <p:nvPr/>
        </p:nvSpPr>
        <p:spPr>
          <a:xfrm>
            <a:off x="4264277" y="3053665"/>
            <a:ext cx="50931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ls /tmp &gt; ~/listing.txt</a:t>
            </a:r>
          </a:p>
          <a:p>
            <a:r>
              <a:rPr lang="fr-FR"/>
              <a:t>ls /tmp5 2&gt; ~/error.log</a:t>
            </a:r>
          </a:p>
          <a:p>
            <a:r>
              <a:rPr lang="fr-FR"/>
              <a:t>echo "il y a une erreur" &gt; /dev/stderr</a:t>
            </a:r>
          </a:p>
          <a:p>
            <a:r>
              <a:rPr lang="en-US"/>
              <a:t>echo "wget not found." &gt;&amp;2</a:t>
            </a:r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D1CAD38-38DC-4A2B-E32A-0D2463FE4C4B}"/>
              </a:ext>
            </a:extLst>
          </p:cNvPr>
          <p:cNvSpPr txBox="1"/>
          <p:nvPr/>
        </p:nvSpPr>
        <p:spPr>
          <a:xfrm>
            <a:off x="4264277" y="4903775"/>
            <a:ext cx="50931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0 pour un code de retour conforme</a:t>
            </a:r>
          </a:p>
          <a:p>
            <a:r>
              <a:rPr lang="fr-FR"/>
              <a:t>1 ou plus pour un code d'erreur</a:t>
            </a:r>
          </a:p>
        </p:txBody>
      </p:sp>
    </p:spTree>
    <p:extLst>
      <p:ext uri="{BB962C8B-B14F-4D97-AF65-F5344CB8AC3E}">
        <p14:creationId xmlns:p14="http://schemas.microsoft.com/office/powerpoint/2010/main" val="862111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8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Bonnes pratiques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>
                <a:latin typeface="Arial"/>
              </a:rPr>
              <a:t>Bonnes pratiques</a:t>
            </a:r>
            <a:endParaRPr lang="en-GB" sz="1200" b="1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Configuration &amp; surcharge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D1CAD38-38DC-4A2B-E32A-0D2463FE4C4B}"/>
              </a:ext>
            </a:extLst>
          </p:cNvPr>
          <p:cNvSpPr txBox="1"/>
          <p:nvPr/>
        </p:nvSpPr>
        <p:spPr>
          <a:xfrm>
            <a:off x="4490419" y="2465748"/>
            <a:ext cx="509311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/>
              <a:t>#!/bin/bash</a:t>
            </a:r>
          </a:p>
          <a:p>
            <a:r>
              <a:rPr lang="fr-FR" sz="1600"/>
              <a:t>myvar=5</a:t>
            </a:r>
          </a:p>
          <a:p>
            <a:r>
              <a:rPr lang="fr-FR" sz="1600"/>
              <a:t>if [[ $myvar -eq 3 ]]; then</a:t>
            </a:r>
          </a:p>
          <a:p>
            <a:r>
              <a:rPr lang="fr-FR" sz="1600"/>
              <a:t>  echo "myvar = 3"</a:t>
            </a:r>
          </a:p>
          <a:p>
            <a:r>
              <a:rPr lang="fr-FR" sz="1600"/>
              <a:t>else</a:t>
            </a:r>
          </a:p>
          <a:p>
            <a:r>
              <a:rPr lang="fr-FR" sz="1600"/>
              <a:t>  echo "myvar != 3"</a:t>
            </a:r>
          </a:p>
          <a:p>
            <a:r>
              <a:rPr lang="fr-FR" sz="1600"/>
              <a:t>  if ( ls /tmp5/ &gt; /dev/null ); then</a:t>
            </a:r>
          </a:p>
          <a:p>
            <a:r>
              <a:rPr lang="fr-FR" sz="1600"/>
              <a:t>    echo "le dossier tmp existe"</a:t>
            </a:r>
          </a:p>
          <a:p>
            <a:r>
              <a:rPr lang="fr-FR" sz="1600"/>
              <a:t>  else</a:t>
            </a:r>
          </a:p>
          <a:p>
            <a:r>
              <a:rPr lang="fr-FR" sz="1600"/>
              <a:t>    echo "le dossier tmp n'existe pas" &gt; /dev/stderr</a:t>
            </a:r>
          </a:p>
          <a:p>
            <a:r>
              <a:rPr lang="fr-FR" sz="1600"/>
              <a:t>    exit 1</a:t>
            </a:r>
          </a:p>
          <a:p>
            <a:r>
              <a:rPr lang="fr-FR" sz="1600"/>
              <a:t>  fi</a:t>
            </a:r>
          </a:p>
          <a:p>
            <a:r>
              <a:rPr lang="fr-FR" sz="1600"/>
              <a:t>fi</a:t>
            </a:r>
          </a:p>
          <a:p>
            <a:endParaRPr lang="fr-FR" sz="1600"/>
          </a:p>
          <a:p>
            <a:r>
              <a:rPr lang="fr-FR" sz="1600"/>
              <a:t>exit 0</a:t>
            </a:r>
          </a:p>
        </p:txBody>
      </p:sp>
    </p:spTree>
    <p:extLst>
      <p:ext uri="{BB962C8B-B14F-4D97-AF65-F5344CB8AC3E}">
        <p14:creationId xmlns:p14="http://schemas.microsoft.com/office/powerpoint/2010/main" val="2436262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9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Bonnes pratiques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>
                <a:latin typeface="Arial"/>
              </a:rPr>
              <a:t>Bonnes pratiques</a:t>
            </a:r>
            <a:endParaRPr lang="en-GB" sz="1200" b="1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Configuration &amp; surcharge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44000" y="2592000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Respecter une convention de nommage de vos variables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ne pas utiliser de caractères spéciaux ( sauf _ ), ni d'espace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ne pas commencer par un chiffre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utiliser des miniscules pour les variables de portée locale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utiliser des majuscules pour les variables de portée globale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utiliser des noms pertinents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z="180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4280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10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2800" b="1" spc="-1">
                <a:latin typeface="Arial"/>
              </a:rPr>
              <a:t>Cas d'usage : déploiement d'une application</a:t>
            </a:r>
            <a:endParaRPr lang="en-GB" sz="2800" b="1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>
                <a:latin typeface="Arial"/>
              </a:rPr>
              <a:t>Bonnes pratiques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Configuration &amp; surcharge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Gestion 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096000" y="2158200"/>
            <a:ext cx="8928852" cy="43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 dirty="0">
              <a:latin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B3EF88-A750-8ECB-2091-530F2A824057}"/>
              </a:ext>
            </a:extLst>
          </p:cNvPr>
          <p:cNvSpPr/>
          <p:nvPr/>
        </p:nvSpPr>
        <p:spPr>
          <a:xfrm>
            <a:off x="3744000" y="2592000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Ecrire un script pour gérer le déploiement d'une application, qui va devoir :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Controller la presence d'une version (nom: version1.tar.gz)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Récupérer l'archive de l'application sur un serveur sftp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archeschool@sftp1.apovir.net:1122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pwd: 44RZSS3H2gLjNhiiPzaV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Déployer l'application sur notre serveur ( ~/www )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Finaliser l'exécution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Redémarrer l'application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Logguer les retours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envoyer un mail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z="180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3487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11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2800" b="1" spc="-1">
                <a:latin typeface="Arial"/>
              </a:rPr>
              <a:t>Cas d'usage : déploiement d'une application</a:t>
            </a:r>
            <a:endParaRPr lang="en-GB" sz="2800" b="1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>
                <a:latin typeface="Arial"/>
              </a:rPr>
              <a:t>Bonnes pratiques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Configuration &amp; surcharge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Gestion 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096000" y="2158200"/>
            <a:ext cx="8928852" cy="43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 dirty="0">
              <a:latin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1B973E5-9067-8EAE-9CE4-FE463F23E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174" y="2102169"/>
            <a:ext cx="7327211" cy="455135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D320B81-6CF5-9095-4C11-26C43C36493A}"/>
              </a:ext>
            </a:extLst>
          </p:cNvPr>
          <p:cNvSpPr txBox="1"/>
          <p:nvPr/>
        </p:nvSpPr>
        <p:spPr>
          <a:xfrm>
            <a:off x="4277033" y="2568525"/>
            <a:ext cx="63420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Lab1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393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12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Variabiliser ses scripts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Variabiliser ses scripts</a:t>
            </a:r>
            <a:endParaRPr lang="en-GB" sz="1200" b="1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Configuration &amp; surcharge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44000" y="2592000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Pourquoi utiliser des variables ?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réutiliser plusieurs fois un même paramètre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centraliser des données modifiable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pouvoir modifier une valeur en cours d'execution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pouvoir utiliser les variables d'environnement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z="180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2587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13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Variabiliser ses scripts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Variabiliser ses scripts</a:t>
            </a:r>
            <a:endParaRPr lang="en-GB" sz="1200" b="1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Configuration &amp; surcharge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44000" y="2592000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Déclarer une variable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	myname=Ludovic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	myadress="15 rue des promenades"</a:t>
            </a:r>
          </a:p>
          <a:p>
            <a:pPr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	myadress='15 rue des promenades'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Imbriquer des variables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	myinfo="$myname habite $myadress"</a:t>
            </a:r>
            <a:endParaRPr lang="en-GB" sz="180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Lire une variable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	echo ${myname}</a:t>
            </a:r>
            <a:endParaRPr lang="en-GB" sz="180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2410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14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Variabiliser ses scripts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Variabiliser ses scripts</a:t>
            </a:r>
            <a:endParaRPr lang="en-GB" sz="1200" b="1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Configuration &amp; surcharge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44000" y="2592000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Les variables d'environnement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	echo $HOME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	echo $PWD $OLDPWD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	echo $RANDOM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Les variables spéciales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	echo $0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	echo $1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	echo $@</a:t>
            </a:r>
          </a:p>
        </p:txBody>
      </p:sp>
    </p:spTree>
    <p:extLst>
      <p:ext uri="{BB962C8B-B14F-4D97-AF65-F5344CB8AC3E}">
        <p14:creationId xmlns:p14="http://schemas.microsoft.com/office/powerpoint/2010/main" val="2933150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15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2800" b="1" spc="-1">
                <a:latin typeface="Arial"/>
              </a:rPr>
              <a:t>Variabiliser ses scripts</a:t>
            </a:r>
            <a:endParaRPr lang="en-GB" sz="2800" b="1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Variabiliser ses scripts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Configuration &amp; surcharge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Gestion 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096000" y="2158200"/>
            <a:ext cx="8928852" cy="43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 dirty="0">
              <a:latin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1B973E5-9067-8EAE-9CE4-FE463F23E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174" y="2102169"/>
            <a:ext cx="7327211" cy="455135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D320B81-6CF5-9095-4C11-26C43C36493A}"/>
              </a:ext>
            </a:extLst>
          </p:cNvPr>
          <p:cNvSpPr txBox="1"/>
          <p:nvPr/>
        </p:nvSpPr>
        <p:spPr>
          <a:xfrm>
            <a:off x="4277033" y="2568525"/>
            <a:ext cx="63420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Lab2, variabiliser votre script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508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16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Configuration deportee et surcharge de variables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>
                <a:latin typeface="Arial"/>
              </a:rPr>
              <a:t>Configuration &amp; surcharge</a:t>
            </a:r>
            <a:endParaRPr lang="en-GB" sz="1200" b="1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44000" y="2592000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Pourquoi déporter une configuration ?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Séparer les données de configuration du code afin d'éviter d'écraser nos paramètres à chaque mise à jour de notre script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Cacher des données qui peuvent être sensible (mot de passe sur git...)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Gérer la configuration en function des environnements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Comment déporter une configuration ?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en déplacant ses variables de configuration dans un second fichier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ce fichier peut être caché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puis il faut inclure ce fichier dans notre script :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r>
              <a:rPr lang="en-GB" spc="-1">
                <a:latin typeface="Arial"/>
              </a:rPr>
              <a:t>		. fichier_a_inclure</a:t>
            </a:r>
          </a:p>
          <a:p>
            <a:pPr>
              <a:lnSpc>
                <a:spcPct val="100000"/>
              </a:lnSpc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z="180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6293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17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Configuration déportée et surcharge de variables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>
                <a:latin typeface="Arial"/>
              </a:rPr>
              <a:t>Configuration &amp; surcharge</a:t>
            </a:r>
            <a:endParaRPr lang="en-GB" sz="1200" b="1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44000" y="2592000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Les variables peuvent être modifiées pendant l'exécution du script.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Pour rendre une variable surchargeable, il suffit de choisir quand la définir.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z="1800" strike="noStrike" spc="-1"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5F62B2E-5798-64EC-FDBF-E5E90208CBC2}"/>
              </a:ext>
            </a:extLst>
          </p:cNvPr>
          <p:cNvSpPr txBox="1"/>
          <p:nvPr/>
        </p:nvSpPr>
        <p:spPr>
          <a:xfrm>
            <a:off x="4637903" y="3861929"/>
            <a:ext cx="63152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/>
              <a:t>#!/bin/bash</a:t>
            </a:r>
          </a:p>
          <a:p>
            <a:endParaRPr lang="fr-FR" sz="1600"/>
          </a:p>
          <a:p>
            <a:r>
              <a:rPr lang="fr-FR" sz="1600"/>
              <a:t>myvar="emplacement1" #cette variable est surchargeable</a:t>
            </a:r>
          </a:p>
          <a:p>
            <a:endParaRPr lang="fr-FR" sz="1600"/>
          </a:p>
          <a:p>
            <a:r>
              <a:rPr lang="fr-FR" sz="1600"/>
              <a:t>. $0.conf</a:t>
            </a:r>
          </a:p>
          <a:p>
            <a:endParaRPr lang="fr-FR" sz="1600"/>
          </a:p>
          <a:p>
            <a:r>
              <a:rPr lang="fr-FR" sz="1600"/>
              <a:t>myvar2="/tmp" # cette variable ne peut être surchargée</a:t>
            </a:r>
          </a:p>
          <a:p>
            <a:endParaRPr lang="fr-FR" sz="1600"/>
          </a:p>
          <a:p>
            <a:r>
              <a:rPr lang="fr-FR" sz="1600"/>
              <a:t>echo "${myvar} , ${myvar2}</a:t>
            </a:r>
          </a:p>
        </p:txBody>
      </p:sp>
    </p:spTree>
    <p:extLst>
      <p:ext uri="{BB962C8B-B14F-4D97-AF65-F5344CB8AC3E}">
        <p14:creationId xmlns:p14="http://schemas.microsoft.com/office/powerpoint/2010/main" val="346938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18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Configuration déportée et surcharge de variables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>
                <a:latin typeface="Arial"/>
              </a:rPr>
              <a:t>Configuration &amp; surcharge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Gestion 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096000" y="2158200"/>
            <a:ext cx="8928852" cy="43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 dirty="0">
              <a:latin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1B973E5-9067-8EAE-9CE4-FE463F23E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174" y="2102169"/>
            <a:ext cx="7327211" cy="455135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D320B81-6CF5-9095-4C11-26C43C36493A}"/>
              </a:ext>
            </a:extLst>
          </p:cNvPr>
          <p:cNvSpPr txBox="1"/>
          <p:nvPr/>
        </p:nvSpPr>
        <p:spPr>
          <a:xfrm>
            <a:off x="4277033" y="2568525"/>
            <a:ext cx="63420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Lab3, exporter la configuration du script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293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19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Créer des fonctions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Créer des fonctions</a:t>
            </a:r>
            <a:endParaRPr lang="en-GB" sz="1200" b="1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44000" y="2592000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Il peut être pratique de regrouper chaque partie de code spécifique à une action dans une fonction.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L'intérêt d'utiliser une function est à la fois de 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découper son code par portion logique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pouvoir réutiliser un même code plusieurs fois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z="1800" strike="noStrike" spc="-1"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5F62B2E-5798-64EC-FDBF-E5E90208CBC2}"/>
              </a:ext>
            </a:extLst>
          </p:cNvPr>
          <p:cNvSpPr txBox="1"/>
          <p:nvPr/>
        </p:nvSpPr>
        <p:spPr>
          <a:xfrm>
            <a:off x="4716560" y="4334388"/>
            <a:ext cx="63152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/>
              <a:t>#!/bin/bash</a:t>
            </a:r>
          </a:p>
          <a:p>
            <a:endParaRPr lang="fr-FR" sz="1600"/>
          </a:p>
          <a:p>
            <a:r>
              <a:rPr lang="fr-FR" sz="1600"/>
              <a:t>function download_archive() {</a:t>
            </a:r>
          </a:p>
          <a:p>
            <a:r>
              <a:rPr lang="fr-FR" sz="1600"/>
              <a:t>  local archive_name="${1}"</a:t>
            </a:r>
          </a:p>
          <a:p>
            <a:r>
              <a:rPr lang="fr-FR" sz="1600"/>
              <a:t>  sftp -q -P 1234 login@sftp:/${archive_name} ${WORK_DIR}</a:t>
            </a:r>
          </a:p>
          <a:p>
            <a:r>
              <a:rPr lang="fr-FR" sz="1600"/>
              <a:t>  echo "Le fichier ${archive_name} a été récupéré"</a:t>
            </a:r>
          </a:p>
          <a:p>
            <a:r>
              <a:rPr lang="fr-FR" sz="1600"/>
              <a:t>}</a:t>
            </a:r>
          </a:p>
          <a:p>
            <a:endParaRPr lang="fr-FR" sz="1600"/>
          </a:p>
          <a:p>
            <a:r>
              <a:rPr lang="fr-FR" sz="1600"/>
              <a:t>download_archive version1.tar.gz</a:t>
            </a:r>
          </a:p>
        </p:txBody>
      </p:sp>
    </p:spTree>
    <p:extLst>
      <p:ext uri="{BB962C8B-B14F-4D97-AF65-F5344CB8AC3E}">
        <p14:creationId xmlns:p14="http://schemas.microsoft.com/office/powerpoint/2010/main" val="2259893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20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Créer des fonctions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Créer des fonctions</a:t>
            </a:r>
            <a:endParaRPr lang="en-GB" sz="1200" b="1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636000" y="2247871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Exemples de fonctions utiles :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z="1800" strike="noStrike" spc="-1"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5F62B2E-5798-64EC-FDBF-E5E90208CBC2}"/>
              </a:ext>
            </a:extLst>
          </p:cNvPr>
          <p:cNvSpPr txBox="1"/>
          <p:nvPr/>
        </p:nvSpPr>
        <p:spPr>
          <a:xfrm>
            <a:off x="4637901" y="2751395"/>
            <a:ext cx="631523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/>
              <a:t>function print() {</a:t>
            </a:r>
          </a:p>
          <a:p>
            <a:r>
              <a:rPr lang="fr-FR" sz="1600"/>
              <a:t>  [ "$QUIET" -eq "1" ] || echo -e "${1}"</a:t>
            </a:r>
          </a:p>
          <a:p>
            <a:r>
              <a:rPr lang="fr-FR" sz="1600"/>
              <a:t>  [ "$SEND_MAIL" -eq "1" ] &amp;&amp; echo -e "${1}\n\r" &gt;&gt; $MAIL_FILE</a:t>
            </a:r>
          </a:p>
          <a:p>
            <a:r>
              <a:rPr lang="fr-FR" sz="1600"/>
              <a:t>  echo -e "${1}" &gt;&gt; $LOG_FILE</a:t>
            </a:r>
          </a:p>
          <a:p>
            <a:r>
              <a:rPr lang="fr-FR" sz="1600"/>
              <a:t>}</a:t>
            </a:r>
          </a:p>
          <a:p>
            <a:endParaRPr lang="fr-FR" sz="1600"/>
          </a:p>
          <a:p>
            <a:r>
              <a:rPr lang="fr-FR" sz="1600"/>
              <a:t>function usage() {</a:t>
            </a:r>
          </a:p>
          <a:p>
            <a:r>
              <a:rPr lang="fr-FR" sz="1600"/>
              <a:t>  echo -e "Usage: $0 [-h] [-q]"</a:t>
            </a:r>
          </a:p>
          <a:p>
            <a:r>
              <a:rPr lang="fr-FR" sz="1600"/>
              <a:t>  echo -e "  -h\t\tThis help"</a:t>
            </a:r>
          </a:p>
          <a:p>
            <a:r>
              <a:rPr lang="fr-FR" sz="1600"/>
              <a:t>  echo -e "  -q\t\tQuiet (no stdout)"</a:t>
            </a:r>
          </a:p>
          <a:p>
            <a:r>
              <a:rPr lang="fr-FR" sz="1600"/>
              <a:t>}</a:t>
            </a:r>
          </a:p>
          <a:p>
            <a:endParaRPr lang="fr-FR" sz="1600"/>
          </a:p>
          <a:p>
            <a:r>
              <a:rPr lang="fr-FR" sz="1600"/>
              <a:t>function cleanup() {</a:t>
            </a:r>
          </a:p>
          <a:p>
            <a:r>
              <a:rPr lang="fr-FR" sz="1600"/>
              <a:t>  echo "removing temporary files"</a:t>
            </a:r>
          </a:p>
          <a:p>
            <a:r>
              <a:rPr lang="fr-FR" sz="1600"/>
              <a:t>  rm /tmp/mylog.txt</a:t>
            </a:r>
          </a:p>
          <a:p>
            <a:r>
              <a:rPr lang="fr-FR" sz="16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1460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21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Créer des fonctions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Créer des fonctions</a:t>
            </a:r>
            <a:endParaRPr lang="en-GB" sz="1200" b="1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 dirty="0">
                <a:latin typeface="Arial"/>
              </a:rPr>
              <a:t>Gestion </a:t>
            </a:r>
            <a:r>
              <a:rPr lang="en-GB" sz="1200" b="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636000" y="2247871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Déclencher une function lors d'un arrêt du script avec les traps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z="1800" strike="noStrike" spc="-1"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5F62B2E-5798-64EC-FDBF-E5E90208CBC2}"/>
              </a:ext>
            </a:extLst>
          </p:cNvPr>
          <p:cNvSpPr txBox="1"/>
          <p:nvPr/>
        </p:nvSpPr>
        <p:spPr>
          <a:xfrm>
            <a:off x="4637901" y="2751395"/>
            <a:ext cx="631523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/>
              <a:t>#!/bin/bash</a:t>
            </a:r>
          </a:p>
          <a:p>
            <a:endParaRPr lang="fr-FR" sz="1600"/>
          </a:p>
          <a:p>
            <a:r>
              <a:rPr lang="fr-FR" sz="1600"/>
              <a:t>trap cleanup 1 2 3 6</a:t>
            </a:r>
          </a:p>
          <a:p>
            <a:endParaRPr lang="fr-FR" sz="1600"/>
          </a:p>
          <a:p>
            <a:r>
              <a:rPr lang="fr-FR" sz="1600"/>
              <a:t>function cleanup() {</a:t>
            </a:r>
          </a:p>
          <a:p>
            <a:r>
              <a:rPr lang="fr-FR" sz="1600"/>
              <a:t>  echo "removing temporary files"</a:t>
            </a:r>
          </a:p>
          <a:p>
            <a:r>
              <a:rPr lang="fr-FR" sz="1600"/>
              <a:t>  rm /tmp/mylog.txt</a:t>
            </a:r>
          </a:p>
          <a:p>
            <a:r>
              <a:rPr lang="fr-FR" sz="1600"/>
              <a:t>}</a:t>
            </a:r>
          </a:p>
          <a:p>
            <a:endParaRPr lang="fr-FR" sz="1600"/>
          </a:p>
          <a:p>
            <a:r>
              <a:rPr lang="fr-FR" sz="160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212049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22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Créer des fonctions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Créer des fonctions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0" strike="noStrike" spc="-1">
                <a:latin typeface="Arial"/>
              </a:rPr>
              <a:t>Gestion 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096000" y="2158200"/>
            <a:ext cx="8928852" cy="43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 dirty="0">
              <a:latin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1B973E5-9067-8EAE-9CE4-FE463F23E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174" y="2102169"/>
            <a:ext cx="7327211" cy="455135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D320B81-6CF5-9095-4C11-26C43C36493A}"/>
              </a:ext>
            </a:extLst>
          </p:cNvPr>
          <p:cNvSpPr txBox="1"/>
          <p:nvPr/>
        </p:nvSpPr>
        <p:spPr>
          <a:xfrm>
            <a:off x="4277033" y="2568525"/>
            <a:ext cx="63420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Lab4, utiliser des fonctions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102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23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Gestion des tests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 dirty="0">
                <a:latin typeface="Arial"/>
              </a:rPr>
              <a:t>Gestion </a:t>
            </a:r>
            <a:r>
              <a:rPr lang="en-GB" sz="1200" b="1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04826" y="2707169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Pour controller le bon fonctionnement de votre script vous devez effectuer des tests.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Les tests peuvent se faire sur :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les variables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les retours de commandes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les retours de fonctions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les objets du système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z="180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7052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24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Gestion des tests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 dirty="0">
                <a:latin typeface="Arial"/>
              </a:rPr>
              <a:t>Gestion </a:t>
            </a:r>
            <a:r>
              <a:rPr lang="en-GB" sz="1200" b="1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04826" y="2707169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Tester l'existance d'un fichier ou répertoire :</a:t>
            </a:r>
          </a:p>
          <a:p>
            <a:r>
              <a:rPr lang="fr-FR" sz="1800"/>
              <a:t>[ -f /tmp/file.log ]</a:t>
            </a:r>
          </a:p>
          <a:p>
            <a:r>
              <a:rPr lang="fr-FR" sz="1800"/>
              <a:t>[ -d /var/www/test/ ]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Tester la bonne exécution d'une commande :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$( ls /tmp )  # Attention la commande est exécutée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Tester le retour d'une commande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ls /tmp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[ $? == 0 ]</a:t>
            </a:r>
          </a:p>
        </p:txBody>
      </p:sp>
    </p:spTree>
    <p:extLst>
      <p:ext uri="{BB962C8B-B14F-4D97-AF65-F5344CB8AC3E}">
        <p14:creationId xmlns:p14="http://schemas.microsoft.com/office/powerpoint/2010/main" val="22746806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25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Gestion des tests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 dirty="0">
                <a:latin typeface="Arial"/>
              </a:rPr>
              <a:t>Gestion </a:t>
            </a:r>
            <a:r>
              <a:rPr lang="en-GB" sz="1200" b="1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04826" y="2707169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Tester l'existence d'une variable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[ $myvar ]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Tester la valeur d'une variable numérique :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[[ $myvar -eq 3 ]]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  <a:p>
            <a:pPr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Tester la valeur d'une variable de type chaine :</a:t>
            </a:r>
            <a:endParaRPr lang="en-GB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[[ $folder == "test" ]]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78304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26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Créer des fonctions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trike="noStrike" spc="-1">
                <a:latin typeface="Arial"/>
              </a:rPr>
              <a:t>Gestion 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b="0" strike="noStrike" spc="-1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096000" y="2158200"/>
            <a:ext cx="8928852" cy="43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 dirty="0">
              <a:latin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1B973E5-9067-8EAE-9CE4-FE463F23E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174" y="2102169"/>
            <a:ext cx="7327211" cy="455135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D320B81-6CF5-9095-4C11-26C43C36493A}"/>
              </a:ext>
            </a:extLst>
          </p:cNvPr>
          <p:cNvSpPr txBox="1"/>
          <p:nvPr/>
        </p:nvSpPr>
        <p:spPr>
          <a:xfrm>
            <a:off x="4277033" y="2568525"/>
            <a:ext cx="63420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Lab5, tester l'ensemble des commandes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110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27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Script intéractif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 dirty="0">
                <a:latin typeface="Arial"/>
              </a:rPr>
              <a:t>Gestion </a:t>
            </a:r>
            <a:r>
              <a:rPr lang="en-GB" sz="120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Script intéractif</a:t>
            </a:r>
            <a:endParaRPr lang="en-GB" sz="1200" b="1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04826" y="2707169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z="1800" strike="noStrike" spc="-1">
                <a:latin typeface="Arial"/>
              </a:rPr>
              <a:t>Il est possible de passer des options à nos scripts avec getops</a:t>
            </a:r>
          </a:p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>
              <a:latin typeface="Arial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C1A8BBF-DC78-2338-8C09-A4D732B69E4C}"/>
              </a:ext>
            </a:extLst>
          </p:cNvPr>
          <p:cNvSpPr txBox="1"/>
          <p:nvPr/>
        </p:nvSpPr>
        <p:spPr>
          <a:xfrm>
            <a:off x="4893539" y="3172020"/>
            <a:ext cx="631523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0">
                <a:effectLst/>
                <a:latin typeface="Droid Sans Mono"/>
              </a:rPr>
              <a:t>while getopts ":hqm:" option</a:t>
            </a:r>
          </a:p>
          <a:p>
            <a:r>
              <a:rPr lang="fr-FR" sz="1200" b="0">
                <a:effectLst/>
                <a:latin typeface="Droid Sans Mono"/>
              </a:rPr>
              <a:t>do</a:t>
            </a:r>
          </a:p>
          <a:p>
            <a:r>
              <a:rPr lang="fr-FR" sz="1200" b="0">
                <a:effectLst/>
                <a:latin typeface="Droid Sans Mono"/>
              </a:rPr>
              <a:t>  case $option in</a:t>
            </a:r>
          </a:p>
          <a:p>
            <a:r>
              <a:rPr lang="fr-FR" sz="1200" b="0">
                <a:effectLst/>
                <a:latin typeface="Droid Sans Mono"/>
              </a:rPr>
              <a:t>    h)</a:t>
            </a:r>
          </a:p>
          <a:p>
            <a:r>
              <a:rPr lang="fr-FR" sz="1200" b="0">
                <a:effectLst/>
                <a:latin typeface="Droid Sans Mono"/>
              </a:rPr>
              <a:t>      usage; exit 0</a:t>
            </a:r>
          </a:p>
          <a:p>
            <a:r>
              <a:rPr lang="fr-FR" sz="1200" b="0">
                <a:effectLst/>
                <a:latin typeface="Droid Sans Mono"/>
              </a:rPr>
              <a:t>      ;;</a:t>
            </a:r>
          </a:p>
          <a:p>
            <a:r>
              <a:rPr lang="fr-FR" sz="1200" b="0">
                <a:effectLst/>
                <a:latin typeface="Droid Sans Mono"/>
              </a:rPr>
              <a:t>    q)</a:t>
            </a:r>
          </a:p>
          <a:p>
            <a:r>
              <a:rPr lang="fr-FR" sz="1200" b="0">
                <a:effectLst/>
                <a:latin typeface="Droid Sans Mono"/>
              </a:rPr>
              <a:t>      QUIET=1</a:t>
            </a:r>
          </a:p>
          <a:p>
            <a:r>
              <a:rPr lang="fr-FR" sz="1200" b="0">
                <a:effectLst/>
                <a:latin typeface="Droid Sans Mono"/>
              </a:rPr>
              <a:t>      ;;</a:t>
            </a:r>
          </a:p>
          <a:p>
            <a:r>
              <a:rPr lang="fr-FR" sz="1200" b="0">
                <a:effectLst/>
                <a:latin typeface="Droid Sans Mono"/>
              </a:rPr>
              <a:t>    m)</a:t>
            </a:r>
          </a:p>
          <a:p>
            <a:r>
              <a:rPr lang="fr-FR" sz="1200" b="0">
                <a:effectLst/>
                <a:latin typeface="Droid Sans Mono"/>
              </a:rPr>
              <a:t>      SEND_MAIL=1</a:t>
            </a:r>
          </a:p>
          <a:p>
            <a:r>
              <a:rPr lang="fr-FR" sz="1200" b="0">
                <a:effectLst/>
                <a:latin typeface="Droid Sans Mono"/>
              </a:rPr>
              <a:t>      ;;</a:t>
            </a:r>
          </a:p>
          <a:p>
            <a:r>
              <a:rPr lang="fr-FR" sz="1200" b="0">
                <a:effectLst/>
                <a:latin typeface="Droid Sans Mono"/>
              </a:rPr>
              <a:t>    \?)</a:t>
            </a:r>
          </a:p>
          <a:p>
            <a:r>
              <a:rPr lang="fr-FR" sz="1200" b="0">
                <a:effectLst/>
                <a:latin typeface="Droid Sans Mono"/>
              </a:rPr>
              <a:t>      usage; exit 1</a:t>
            </a:r>
          </a:p>
          <a:p>
            <a:r>
              <a:rPr lang="fr-FR" sz="1200" b="0">
                <a:effectLst/>
                <a:latin typeface="Droid Sans Mono"/>
              </a:rPr>
              <a:t>      ;;</a:t>
            </a:r>
          </a:p>
          <a:p>
            <a:r>
              <a:rPr lang="fr-FR" sz="1200" b="0">
                <a:effectLst/>
                <a:latin typeface="Droid Sans Mono"/>
              </a:rPr>
              <a:t>  esac</a:t>
            </a:r>
          </a:p>
          <a:p>
            <a:r>
              <a:rPr lang="fr-FR" sz="1200" b="0">
                <a:effectLst/>
                <a:latin typeface="Droid Sans Mono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3050545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28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Script intéractif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 dirty="0">
                <a:latin typeface="Arial"/>
              </a:rPr>
              <a:t>Gestion </a:t>
            </a:r>
            <a:r>
              <a:rPr lang="en-GB" sz="120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Script intéractif</a:t>
            </a:r>
            <a:endParaRPr lang="en-GB" sz="1200" b="1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04826" y="2707169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On peut également poser des questions pour que l'utilisateur donne ses choix :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C1A8BBF-DC78-2338-8C09-A4D732B69E4C}"/>
              </a:ext>
            </a:extLst>
          </p:cNvPr>
          <p:cNvSpPr txBox="1"/>
          <p:nvPr/>
        </p:nvSpPr>
        <p:spPr>
          <a:xfrm>
            <a:off x="4578906" y="3773106"/>
            <a:ext cx="63152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>
                <a:effectLst/>
                <a:latin typeface="Droid Sans Mono"/>
              </a:rPr>
              <a:t>if [ $WWW_DIR == "" ]; then</a:t>
            </a:r>
          </a:p>
          <a:p>
            <a:r>
              <a:rPr lang="fr-FR">
                <a:latin typeface="Droid Sans Mono"/>
              </a:rPr>
              <a:t>  echo -n "Emplacement du dossier www ? "</a:t>
            </a:r>
            <a:endParaRPr lang="fr-FR" b="0">
              <a:effectLst/>
              <a:latin typeface="Droid Sans Mono"/>
            </a:endParaRPr>
          </a:p>
          <a:p>
            <a:r>
              <a:rPr lang="fr-FR" b="0">
                <a:effectLst/>
                <a:latin typeface="Droid Sans Mono"/>
              </a:rPr>
              <a:t>  read WWW_DIR</a:t>
            </a:r>
          </a:p>
          <a:p>
            <a:r>
              <a:rPr lang="fr-FR">
                <a:latin typeface="Droid Sans Mono"/>
              </a:rPr>
              <a:t>else</a:t>
            </a:r>
          </a:p>
          <a:p>
            <a:r>
              <a:rPr lang="fr-FR" b="0">
                <a:effectLst/>
                <a:latin typeface="Droid Sans Mono"/>
              </a:rPr>
              <a:t>  echo "</a:t>
            </a:r>
            <a:r>
              <a:rPr lang="fr-FR">
                <a:latin typeface="Droid Sans Mono"/>
              </a:rPr>
              <a:t> Emplacement du dossier www = ${WWW_DIR}</a:t>
            </a:r>
          </a:p>
          <a:p>
            <a:r>
              <a:rPr lang="fr-FR" b="0">
                <a:effectLst/>
                <a:latin typeface="Droid Sans Mono"/>
              </a:rPr>
              <a:t>fi</a:t>
            </a:r>
          </a:p>
        </p:txBody>
      </p:sp>
    </p:spTree>
    <p:extLst>
      <p:ext uri="{BB962C8B-B14F-4D97-AF65-F5344CB8AC3E}">
        <p14:creationId xmlns:p14="http://schemas.microsoft.com/office/powerpoint/2010/main" val="33400867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29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Script intéractif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Gestion 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Script intéractif</a:t>
            </a:r>
            <a:endParaRPr lang="en-GB" sz="1200" b="1" strike="noStrike" spc="-1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096000" y="2158200"/>
            <a:ext cx="8928852" cy="43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 dirty="0">
              <a:latin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1B973E5-9067-8EAE-9CE4-FE463F23E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174" y="2102169"/>
            <a:ext cx="7327211" cy="455135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D320B81-6CF5-9095-4C11-26C43C36493A}"/>
              </a:ext>
            </a:extLst>
          </p:cNvPr>
          <p:cNvSpPr txBox="1"/>
          <p:nvPr/>
        </p:nvSpPr>
        <p:spPr>
          <a:xfrm>
            <a:off x="4277033" y="2568525"/>
            <a:ext cx="63420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Lab6, modifier votre script pour rendre optionnel l'envoi du mail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6666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30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Gérer la verbosité de vos scripts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 dirty="0">
                <a:latin typeface="Arial"/>
              </a:rPr>
              <a:t>Gestion </a:t>
            </a:r>
            <a:r>
              <a:rPr lang="en-GB" sz="120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Verbosité</a:t>
            </a:r>
            <a:endParaRPr lang="en-GB" sz="1200" b="1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04826" y="2707169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Il est important de gérer la verbosité de ses scripts pour modifier la quantité d'information renvoyée.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Obtenir plus d'informations de débbogage pour analyse du comportement</a:t>
            </a:r>
          </a:p>
          <a:p>
            <a:pPr marL="285750" indent="-2857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pc="-1">
                <a:latin typeface="Arial"/>
              </a:rPr>
              <a:t>Avoir moins ou pas d'information retour pour automatiser l'execution (par exemple via une cron journalière)</a:t>
            </a:r>
          </a:p>
        </p:txBody>
      </p:sp>
    </p:spTree>
    <p:extLst>
      <p:ext uri="{BB962C8B-B14F-4D97-AF65-F5344CB8AC3E}">
        <p14:creationId xmlns:p14="http://schemas.microsoft.com/office/powerpoint/2010/main" val="2294530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31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Gérer la verbosité de vos scripts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 dirty="0">
                <a:latin typeface="Arial"/>
              </a:rPr>
              <a:t>Gestion </a:t>
            </a:r>
            <a:r>
              <a:rPr lang="en-GB" sz="120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Verbosité</a:t>
            </a:r>
            <a:endParaRPr lang="en-GB" sz="1200" b="1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04826" y="2707169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Utiliser une fonction print() qui pourra controller la sortie de vos scripts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C1A8BBF-DC78-2338-8C09-A4D732B69E4C}"/>
              </a:ext>
            </a:extLst>
          </p:cNvPr>
          <p:cNvSpPr txBox="1"/>
          <p:nvPr/>
        </p:nvSpPr>
        <p:spPr>
          <a:xfrm>
            <a:off x="4578906" y="3773106"/>
            <a:ext cx="71411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>
                <a:effectLst/>
                <a:latin typeface="Droid Sans Mono"/>
              </a:rPr>
              <a:t>function print() {</a:t>
            </a:r>
          </a:p>
          <a:p>
            <a:r>
              <a:rPr lang="fr-FR" b="0">
                <a:effectLst/>
                <a:latin typeface="Droid Sans Mono"/>
              </a:rPr>
              <a:t>  [ "$QUIET" -eq "1" ] || echo -e "${1}"</a:t>
            </a:r>
          </a:p>
          <a:p>
            <a:r>
              <a:rPr lang="fr-FR" b="0">
                <a:effectLst/>
                <a:latin typeface="Droid Sans Mono"/>
              </a:rPr>
              <a:t>  [ "$SEND_MAIL" -eq "1" ] &amp;&amp; echo -e "${1}\n\r" &gt;&gt; $MAIL_FILE</a:t>
            </a:r>
          </a:p>
          <a:p>
            <a:r>
              <a:rPr lang="fr-FR" b="0">
                <a:effectLst/>
                <a:latin typeface="Droid Sans Mono"/>
              </a:rPr>
              <a:t>  echo -e "${1}" &gt;&gt; $LOG_FILE</a:t>
            </a:r>
          </a:p>
          <a:p>
            <a:r>
              <a:rPr lang="fr-FR" b="0">
                <a:effectLst/>
                <a:latin typeface="Droid Sa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075208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32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Gérer la verbosité de ses scripts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Gestion 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strike="noStrike" spc="-1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b="1" spc="-1">
                <a:latin typeface="Arial"/>
              </a:rPr>
              <a:t>Verbosité</a:t>
            </a:r>
            <a:endParaRPr lang="en-GB" sz="1200" b="1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096000" y="2158200"/>
            <a:ext cx="8928852" cy="432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endParaRPr lang="en-GB" spc="-1" dirty="0">
              <a:latin typeface="Arial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1B973E5-9067-8EAE-9CE4-FE463F23E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174" y="2102169"/>
            <a:ext cx="7327211" cy="4551351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D320B81-6CF5-9095-4C11-26C43C36493A}"/>
              </a:ext>
            </a:extLst>
          </p:cNvPr>
          <p:cNvSpPr txBox="1"/>
          <p:nvPr/>
        </p:nvSpPr>
        <p:spPr>
          <a:xfrm>
            <a:off x="4277033" y="2568525"/>
            <a:ext cx="63420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>
                <a:solidFill>
                  <a:schemeClr val="bg1"/>
                </a:solidFill>
              </a:rPr>
              <a:t>Lab7, render la verbosité de votre script optionnel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2162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Num"/>
          </p:nvPr>
        </p:nvSpPr>
        <p:spPr>
          <a:xfrm>
            <a:off x="272880" y="6251400"/>
            <a:ext cx="1109880" cy="4021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</a:pPr>
            <a:fld id="{2ACE40B6-3E7C-4CFA-859C-197179935E7C}" type="slidenum">
              <a:rPr lang="fr-FR" sz="2400" b="1" strike="noStrike" spc="-1">
                <a:solidFill>
                  <a:srgbClr val="FFFFFF"/>
                </a:solidFill>
                <a:latin typeface="Arial"/>
              </a:rPr>
              <a:t>33</a:t>
            </a:fld>
            <a:endParaRPr lang="en-GB" sz="2400" b="0" strike="noStrike" spc="-1" dirty="0">
              <a:latin typeface="Times New Roman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3096000" y="1492560"/>
            <a:ext cx="8854920" cy="665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2800" b="0" strike="noStrike" spc="-1">
                <a:latin typeface="Arial"/>
              </a:rPr>
              <a:t>Pour finir...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181" name="Rectangle 180"/>
          <p:cNvSpPr/>
          <p:nvPr/>
        </p:nvSpPr>
        <p:spPr>
          <a:xfrm>
            <a:off x="72000" y="1800000"/>
            <a:ext cx="2662200" cy="28604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Bonnes pratiques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Variabiliser ses scripts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>
                <a:latin typeface="Arial"/>
              </a:rPr>
              <a:t>Configuration &amp; surcharge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Créer des fonctions</a:t>
            </a:r>
            <a:endParaRPr lang="en-GB" sz="1200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trike="noStrike" spc="-1" dirty="0">
                <a:latin typeface="Arial"/>
              </a:rPr>
              <a:t>Gestion </a:t>
            </a:r>
            <a:r>
              <a:rPr lang="en-GB" sz="1200" strike="noStrike" spc="-1">
                <a:latin typeface="Arial"/>
              </a:rPr>
              <a:t>des tests</a:t>
            </a:r>
          </a:p>
          <a:p>
            <a:pPr marL="171450" indent="-171450"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Script intéractif</a:t>
            </a:r>
            <a:endParaRPr lang="en-GB" sz="1200" strike="noStrike" spc="-1" dirty="0">
              <a:latin typeface="Arial"/>
            </a:endParaRPr>
          </a:p>
          <a:p>
            <a:pPr marL="171450" indent="-171450">
              <a:lnSpc>
                <a:spcPct val="100000"/>
              </a:lnSpc>
              <a:spcBef>
                <a:spcPts val="1417"/>
              </a:spcBef>
              <a:buFont typeface="Arial" panose="020B0604020202020204" pitchFamily="34" charset="0"/>
              <a:buChar char="•"/>
              <a:tabLst>
                <a:tab pos="408240" algn="l"/>
              </a:tabLst>
            </a:pPr>
            <a:r>
              <a:rPr lang="en-GB" sz="1200" spc="-1">
                <a:latin typeface="Arial"/>
              </a:rPr>
              <a:t>Verbosité</a:t>
            </a:r>
            <a:endParaRPr lang="en-GB" sz="1200" spc="-1" dirty="0">
              <a:latin typeface="Arial"/>
            </a:endParaRPr>
          </a:p>
        </p:txBody>
      </p:sp>
      <p:sp>
        <p:nvSpPr>
          <p:cNvPr id="182" name="Rectangle 181"/>
          <p:cNvSpPr/>
          <p:nvPr/>
        </p:nvSpPr>
        <p:spPr>
          <a:xfrm>
            <a:off x="3704826" y="2707169"/>
            <a:ext cx="7774920" cy="388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spcBef>
                <a:spcPts val="1417"/>
              </a:spcBef>
              <a:tabLst>
                <a:tab pos="408240" algn="l"/>
              </a:tabLst>
            </a:pPr>
            <a:r>
              <a:rPr lang="en-GB" spc="-1">
                <a:latin typeface="Arial"/>
              </a:rPr>
              <a:t>Il existe des outils pour vérifier la syntaxe de vos scripts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C1A8BBF-DC78-2338-8C09-A4D732B69E4C}"/>
              </a:ext>
            </a:extLst>
          </p:cNvPr>
          <p:cNvSpPr txBox="1"/>
          <p:nvPr/>
        </p:nvSpPr>
        <p:spPr>
          <a:xfrm>
            <a:off x="4578906" y="3773106"/>
            <a:ext cx="71411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0">
                <a:effectLst/>
                <a:latin typeface="Droid Sans Mono"/>
              </a:rPr>
              <a:t>apt install shellcheck</a:t>
            </a:r>
          </a:p>
          <a:p>
            <a:endParaRPr lang="fr-FR">
              <a:latin typeface="Droid Sans Mono"/>
            </a:endParaRPr>
          </a:p>
          <a:p>
            <a:r>
              <a:rPr lang="fr-FR" b="0">
                <a:effectLst/>
                <a:latin typeface="Droid Sans Mono"/>
              </a:rPr>
              <a:t>shellcheck  monscript.sh</a:t>
            </a:r>
          </a:p>
        </p:txBody>
      </p:sp>
    </p:spTree>
    <p:extLst>
      <p:ext uri="{BB962C8B-B14F-4D97-AF65-F5344CB8AC3E}">
        <p14:creationId xmlns:p14="http://schemas.microsoft.com/office/powerpoint/2010/main" val="21802304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8E0275930A6B4D836816AA05C678B2" ma:contentTypeVersion="23" ma:contentTypeDescription="Create a new document." ma:contentTypeScope="" ma:versionID="5a3cd3351179ffb918f876960519168e">
  <xsd:schema xmlns:xsd="http://www.w3.org/2001/XMLSchema" xmlns:xs="http://www.w3.org/2001/XMLSchema" xmlns:p="http://schemas.microsoft.com/office/2006/metadata/properties" xmlns:ns2="43cdb4f2-cbe2-4ef9-a34b-11e62f10b0cd" xmlns:ns3="b8ec4ddc-cf79-4e00-b94f-d7026c2c8a54" targetNamespace="http://schemas.microsoft.com/office/2006/metadata/properties" ma:root="true" ma:fieldsID="5958e21b816cdc0e64657eccf3e145b4" ns2:_="" ns3:_="">
    <xsd:import namespace="43cdb4f2-cbe2-4ef9-a34b-11e62f10b0cd"/>
    <xsd:import namespace="b8ec4ddc-cf79-4e00-b94f-d7026c2c8a54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Heure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db4f2-cbe2-4ef9-a34b-11e62f10b0cd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5" nillable="true" ma:displayName="_x00c9_tat_x0020_de_x0020_validation" ma:internalName="_x00c9_tat_x0020_de_x0020_validation" ma:readOnly="false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Balises d’images" ma:readOnly="false" ma:fieldId="{5cf76f15-5ced-4ddc-b409-7134ff3c332f}" ma:taxonomyMulti="true" ma:sspId="6e1f7fe9-1b26-4370-a08a-a88dbd0d26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Heure" ma:index="23" nillable="true" ma:displayName="Heure" ma:format="DateTime" ma:internalName="Heure">
      <xsd:simpleType>
        <xsd:restriction base="dms:DateTime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ec4ddc-cf79-4e00-b94f-d7026c2c8a54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Partagé avec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8afd365-9cca-44ef-824d-fc755b3309bc}" ma:internalName="TaxCatchAll" ma:showField="CatchAllData" ma:web="b8ec4ddc-cf79-4e00-b94f-d7026c2c8a5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6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E412C4-698A-446D-ADCF-D3D7B1B5065E}"/>
</file>

<file path=customXml/itemProps2.xml><?xml version="1.0" encoding="utf-8"?>
<ds:datastoreItem xmlns:ds="http://schemas.openxmlformats.org/officeDocument/2006/customXml" ds:itemID="{694BC1E3-1EAE-4C49-A165-69665AEE5863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3312</TotalTime>
  <Words>2119</Words>
  <Application>Microsoft Office PowerPoint</Application>
  <PresentationFormat>Personnalisé</PresentationFormat>
  <Paragraphs>524</Paragraphs>
  <Slides>34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34</vt:i4>
      </vt:variant>
    </vt:vector>
  </HeadingPairs>
  <TitlesOfParts>
    <vt:vector size="43" baseType="lpstr">
      <vt:lpstr>Arial</vt:lpstr>
      <vt:lpstr>Droid Sans Mono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Lucie COTTEREAU</dc:creator>
  <dc:description/>
  <cp:lastModifiedBy>Ludovic LE FLOCH</cp:lastModifiedBy>
  <cp:revision>46</cp:revision>
  <dcterms:created xsi:type="dcterms:W3CDTF">2021-08-25T09:09:41Z</dcterms:created>
  <dcterms:modified xsi:type="dcterms:W3CDTF">2024-01-26T15:47:27Z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0x010100A9E0EF309FC814409512ABF230CFD5E0</vt:lpwstr>
  </property>
  <property fmtid="{D5CDD505-2E9C-101B-9397-08002B2CF9AE}" pid="3" name="Notes">
    <vt:i4>7</vt:i4>
  </property>
  <property fmtid="{D5CDD505-2E9C-101B-9397-08002B2CF9AE}" pid="4" name="PresentationFormat">
    <vt:lpwstr>Grand écran</vt:lpwstr>
  </property>
  <property fmtid="{D5CDD505-2E9C-101B-9397-08002B2CF9AE}" pid="5" name="Slides">
    <vt:i4>27</vt:i4>
  </property>
  <property fmtid="{D5CDD505-2E9C-101B-9397-08002B2CF9AE}" pid="6" name="MSIP_Label_0c2810ff-bfc8-4cb8-846b-1f06b68e26ff_Enabled">
    <vt:lpwstr>true</vt:lpwstr>
  </property>
  <property fmtid="{D5CDD505-2E9C-101B-9397-08002B2CF9AE}" pid="7" name="MSIP_Label_0c2810ff-bfc8-4cb8-846b-1f06b68e26ff_SetDate">
    <vt:lpwstr>2023-05-31T16:50:26Z</vt:lpwstr>
  </property>
  <property fmtid="{D5CDD505-2E9C-101B-9397-08002B2CF9AE}" pid="8" name="MSIP_Label_0c2810ff-bfc8-4cb8-846b-1f06b68e26ff_Method">
    <vt:lpwstr>Standard</vt:lpwstr>
  </property>
  <property fmtid="{D5CDD505-2E9C-101B-9397-08002B2CF9AE}" pid="9" name="MSIP_Label_0c2810ff-bfc8-4cb8-846b-1f06b68e26ff_Name">
    <vt:lpwstr>Interne</vt:lpwstr>
  </property>
  <property fmtid="{D5CDD505-2E9C-101B-9397-08002B2CF9AE}" pid="10" name="MSIP_Label_0c2810ff-bfc8-4cb8-846b-1f06b68e26ff_SiteId">
    <vt:lpwstr>39cc7559-619d-4c1d-b16b-eac4157acda0</vt:lpwstr>
  </property>
  <property fmtid="{D5CDD505-2E9C-101B-9397-08002B2CF9AE}" pid="11" name="MSIP_Label_0c2810ff-bfc8-4cb8-846b-1f06b68e26ff_ActionId">
    <vt:lpwstr>cb83407b-4728-4e7b-abcf-a0d1882f09bd</vt:lpwstr>
  </property>
  <property fmtid="{D5CDD505-2E9C-101B-9397-08002B2CF9AE}" pid="12" name="MSIP_Label_0c2810ff-bfc8-4cb8-846b-1f06b68e26ff_ContentBits">
    <vt:lpwstr>0</vt:lpwstr>
  </property>
</Properties>
</file>